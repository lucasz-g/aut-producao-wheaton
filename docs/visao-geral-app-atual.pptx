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621792"/>
            <a:ext cx="2834640" cy="329184"/>
          </a:xfrm>
          <a:prstGeom prst="roundRect">
            <a:avLst/>
          </a:prstGeom>
          <a:solidFill>
            <a:srgbClr val="17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22B7D2"/>
                </a:solidFill>
                <a:latin typeface="Aptos"/>
              </a:rPr>
              <a:t>ARQUITETURA · SNAPSHOT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67665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7F9FC"/>
                </a:solidFill>
                <a:latin typeface="Aptos"/>
              </a:rPr>
              <a:t>Automação de Relatórios
de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788920"/>
            <a:ext cx="67665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ECFE0"/>
                </a:solidFill>
                <a:latin typeface="Aptos"/>
              </a:rPr>
              <a:t>Do .xlsx bruto ao PDF diário, em um único processo Streamlit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3703320"/>
            <a:ext cx="1280160" cy="329184"/>
          </a:xfrm>
          <a:prstGeom prst="roundRect">
            <a:avLst/>
          </a:prstGeom>
          <a:solidFill>
            <a:srgbClr val="17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22B7D2"/>
                </a:solidFill>
                <a:latin typeface="Aptos"/>
              </a:rPr>
              <a:t>PANDAS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3703320"/>
            <a:ext cx="1280160" cy="329184"/>
          </a:xfrm>
          <a:prstGeom prst="roundRect">
            <a:avLst/>
          </a:prstGeom>
          <a:solidFill>
            <a:srgbClr val="17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2DA673"/>
                </a:solidFill>
                <a:latin typeface="Aptos"/>
              </a:rPr>
              <a:t>PLOTLY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75887" y="3703320"/>
            <a:ext cx="1600200" cy="329184"/>
          </a:xfrm>
          <a:prstGeom prst="roundRect">
            <a:avLst/>
          </a:prstGeom>
          <a:solidFill>
            <a:srgbClr val="17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0AA37"/>
                </a:solidFill>
                <a:latin typeface="Aptos"/>
              </a:rPr>
              <a:t>AZURE OPENAI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96128" y="3703320"/>
            <a:ext cx="1600200" cy="329184"/>
          </a:xfrm>
          <a:prstGeom prst="roundRect">
            <a:avLst/>
          </a:prstGeom>
          <a:solidFill>
            <a:srgbClr val="17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BE8CF0"/>
                </a:solidFill>
                <a:latin typeface="Aptos"/>
              </a:rPr>
              <a:t>REPORTLAB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36992" y="1078992"/>
            <a:ext cx="3246120" cy="1143000"/>
          </a:xfrm>
          <a:prstGeom prst="roundRect">
            <a:avLst/>
          </a:prstGeom>
          <a:solidFill>
            <a:srgbClr val="172A43"/>
          </a:solidFill>
          <a:ln w="12700">
            <a:solidFill>
              <a:srgbClr val="17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22B7D2"/>
                </a:solidFill>
                <a:latin typeface="Aptos"/>
              </a:rPr>
              <a:t>ENTRADAS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7F9FC"/>
                </a:solidFill>
                <a:latin typeface="Aptos"/>
              </a:rPr>
              <a:t>Produção.xlsx
Notas.xlsx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55480" y="2240280"/>
            <a:ext cx="0" cy="365760"/>
          </a:xfrm>
          <a:prstGeom prst="line">
            <a:avLst/>
          </a:prstGeom>
          <a:ln w="25400">
            <a:solidFill>
              <a:srgbClr val="22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36992" y="2633472"/>
            <a:ext cx="3246120" cy="1115568"/>
          </a:xfrm>
          <a:prstGeom prst="roundRect">
            <a:avLst/>
          </a:prstGeom>
          <a:solidFill>
            <a:srgbClr val="2270C9"/>
          </a:solidFill>
          <a:ln w="12700">
            <a:solidFill>
              <a:srgbClr val="227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2100" b="1">
                <a:solidFill>
                  <a:srgbClr val="F7F9FC"/>
                </a:solidFill>
                <a:latin typeface="Aptos"/>
              </a:rPr>
              <a:t>Streamlit · app.py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BECFE0"/>
                </a:solidFill>
                <a:latin typeface="Aptos"/>
              </a:rPr>
              <a:t>normaliza, agrega, interpreta e renderiza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55480" y="3776472"/>
            <a:ext cx="0" cy="365760"/>
          </a:xfrm>
          <a:prstGeom prst="line">
            <a:avLst/>
          </a:prstGeom>
          <a:ln w="25400">
            <a:solidFill>
              <a:srgbClr val="22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36992" y="4169663"/>
            <a:ext cx="3246120" cy="1261872"/>
          </a:xfrm>
          <a:prstGeom prst="roundRect">
            <a:avLst/>
          </a:prstGeom>
          <a:solidFill>
            <a:srgbClr val="172A43"/>
          </a:solidFill>
          <a:ln w="12700">
            <a:solidFill>
              <a:srgbClr val="17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100" b="1">
                <a:solidFill>
                  <a:srgbClr val="22B7D2"/>
                </a:solidFill>
                <a:latin typeface="Aptos"/>
              </a:rPr>
              <a:t>SAÍDAS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F7F9FC"/>
                </a:solidFill>
                <a:latin typeface="Aptos"/>
              </a:rPr>
              <a:t>DataFrame · Plotly
JSON ·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6144768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6ACC3"/>
                </a:solidFill>
                <a:latin typeface="Aptos"/>
              </a:rPr>
              <a:t>5 slides · arquitetura, fluxo de dados e estágio atual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0656" y="6144768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96ACC3"/>
                </a:solidFill>
                <a:latin typeface="Aptos"/>
              </a:rPr>
              <a:t>16 SET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70C9"/>
                </a:solidFill>
                <a:latin typeface="Aptos"/>
              </a:rPr>
              <a:t>01 · VISÃO GERAL E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F1C2E"/>
                </a:solidFill>
                <a:latin typeface="Aptos"/>
              </a:rPr>
              <a:t>Uma aplicação, três etapas: ler, agregar e publicar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9778B"/>
                </a:solidFill>
                <a:latin typeface="Aptos"/>
              </a:rPr>
              <a:t>Aplicação Streamlit sem banco de dados: os dois Excel são lidos em memória, normalizados em DataFrames e materializados como tabela, gráfico e PDF.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3246120" cy="2240280"/>
          </a:xfrm>
          <a:prstGeom prst="roundRect">
            <a:avLst/>
          </a:prstGeom>
          <a:solidFill>
            <a:srgbClr val="FCEDED"/>
          </a:solidFill>
          <a:ln w="12700">
            <a:solidFill>
              <a:srgbClr val="FCE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100" b="1">
                <a:solidFill>
                  <a:srgbClr val="DC4E4E"/>
                </a:solidFill>
                <a:latin typeface="Aptos"/>
              </a:rPr>
              <a:t>ENTRADA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0F1C2E"/>
                </a:solidFill>
                <a:latin typeface="Aptos"/>
              </a:rPr>
              <a:t>Dois .xlsx de layout irregular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69778B"/>
                </a:solidFill>
                <a:latin typeface="Aptos"/>
              </a:rPr>
              <a:t>Produção e notas chegam com cabeçalho deslocado, tipos mistos e colunas descartáveis.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41648" y="3063240"/>
            <a:ext cx="457200" cy="0"/>
          </a:xfrm>
          <a:prstGeom prst="line">
            <a:avLst/>
          </a:prstGeom>
          <a:ln w="25400">
            <a:solidFill>
              <a:srgbClr val="CB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36008" y="1965960"/>
            <a:ext cx="3246120" cy="2240280"/>
          </a:xfrm>
          <a:prstGeom prst="roundRect">
            <a:avLst/>
          </a:prstGeom>
          <a:solidFill>
            <a:srgbClr val="E7F1FC"/>
          </a:solidFill>
          <a:ln w="12700">
            <a:solidFill>
              <a:srgbClr val="E7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100" b="1">
                <a:solidFill>
                  <a:srgbClr val="2270C9"/>
                </a:solidFill>
                <a:latin typeface="Aptos"/>
              </a:rPr>
              <a:t>PROCESSAMENTO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0F1C2E"/>
                </a:solidFill>
                <a:latin typeface="Aptos"/>
              </a:rPr>
              <a:t>pandas normaliza e agrega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69778B"/>
                </a:solidFill>
                <a:latin typeface="Aptos"/>
              </a:rPr>
              <a:t>Dia Wheaton (06:00–05:59), agregação por máquina e prefixo e comparação de Emp - Rejeitado % com o Objetivo %.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19288" y="3063240"/>
            <a:ext cx="457200" cy="0"/>
          </a:xfrm>
          <a:prstGeom prst="line">
            <a:avLst/>
          </a:prstGeom>
          <a:ln w="25400">
            <a:solidFill>
              <a:srgbClr val="CB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613648" y="1965960"/>
            <a:ext cx="2916936" cy="2240280"/>
          </a:xfrm>
          <a:prstGeom prst="roundRect">
            <a:avLst/>
          </a:prstGeom>
          <a:solidFill>
            <a:srgbClr val="E7F7EF"/>
          </a:solidFill>
          <a:ln w="12700">
            <a:solidFill>
              <a:srgbClr val="E7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100" b="1">
                <a:solidFill>
                  <a:srgbClr val="2DA673"/>
                </a:solidFill>
                <a:latin typeface="Aptos"/>
              </a:rPr>
              <a:t>SAÍDA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900" b="1">
                <a:solidFill>
                  <a:srgbClr val="0F1C2E"/>
                </a:solidFill>
                <a:latin typeface="Aptos"/>
              </a:rPr>
              <a:t>Tabela, gráfico e PDF na sessão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69778B"/>
                </a:solidFill>
                <a:latin typeface="Aptos"/>
              </a:rPr>
              <a:t>st.session_state guarda os DataFrames; o PDF é montado em memória e entregue por download_button.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1952" y="4681728"/>
            <a:ext cx="8394192" cy="960120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0F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000" b="1">
                <a:solidFill>
                  <a:srgbClr val="22B7D2"/>
                </a:solidFill>
                <a:latin typeface="Aptos"/>
              </a:rPr>
              <a:t>Stack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7F9FC"/>
                </a:solidFill>
                <a:latin typeface="Aptos"/>
              </a:rPr>
              <a:t>Python 3.13 · Streamlit · pandas · Plotly + kaleido · ReportLab · Azure OpenAI · 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55624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9778B"/>
                </a:solidFill>
                <a:latin typeface="Aptos"/>
              </a:rPr>
              <a:t>Automação de Relatórios de Produção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977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70C9"/>
                </a:solidFill>
                <a:latin typeface="Aptos"/>
              </a:rPr>
              <a:t>02 · FLUXO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F1C2E"/>
                </a:solidFill>
                <a:latin typeface="Aptos"/>
              </a:rPr>
              <a:t>Pipeline: upload, parse, agregação, LLM e render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9778B"/>
                </a:solidFill>
                <a:latin typeface="Aptos"/>
              </a:rPr>
              <a:t>Cada etapa roda sob demanda no processo Streamlit, sem persistência entre sessões e sem estado compartilhado entre usuários.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93392"/>
            <a:ext cx="2057400" cy="1417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157984"/>
            <a:ext cx="384048" cy="384048"/>
          </a:xfrm>
          <a:prstGeom prst="ellipse">
            <a:avLst/>
          </a:prstGeom>
          <a:solidFill>
            <a:srgbClr val="22B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62556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9FC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157984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C2E"/>
                </a:solidFill>
                <a:latin typeface="Aptos"/>
              </a:rP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15184"/>
            <a:ext cx="17282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9778B"/>
                </a:solidFill>
                <a:latin typeface="Aptos"/>
              </a:rPr>
              <a:t>st.file_uploader recebe os dois .xlsx em um único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6" y="1993392"/>
            <a:ext cx="2057400" cy="1417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35808" y="2157984"/>
            <a:ext cx="384048" cy="384048"/>
          </a:xfrm>
          <a:prstGeom prst="ellipse">
            <a:avLst/>
          </a:prstGeom>
          <a:solidFill>
            <a:srgbClr val="22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162556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9FC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2157984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C2E"/>
                </a:solidFill>
                <a:latin typeface="Aptos"/>
              </a:rPr>
              <a:t>Parse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615184"/>
            <a:ext cx="17282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9778B"/>
                </a:solidFill>
                <a:latin typeface="Aptos"/>
              </a:rPr>
              <a:t>openpyxl lê as planilhas; cabeçalhos e tipos são normalizados.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4064" y="1993392"/>
            <a:ext cx="2057400" cy="1417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48655" y="2157984"/>
            <a:ext cx="384048" cy="384048"/>
          </a:xfrm>
          <a:prstGeom prst="ellipse">
            <a:avLst/>
          </a:prstGeom>
          <a:solidFill>
            <a:srgbClr val="F0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48655" y="2162556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9FC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1" y="2157984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C2E"/>
                </a:solidFill>
                <a:latin typeface="Aptos"/>
              </a:rPr>
              <a:t>Agregação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655" y="2615184"/>
            <a:ext cx="17282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9778B"/>
                </a:solidFill>
                <a:latin typeface="Aptos"/>
              </a:rPr>
              <a:t>Desempenho diário e hora a hora por máquina e prefixo.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6912" y="1993392"/>
            <a:ext cx="2057400" cy="1417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61504" y="2157984"/>
            <a:ext cx="384048" cy="384048"/>
          </a:xfrm>
          <a:prstGeom prst="ellipse">
            <a:avLst/>
          </a:prstGeom>
          <a:solidFill>
            <a:srgbClr val="2DA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2162556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9FC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2157984"/>
            <a:ext cx="1234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C2E"/>
                </a:solidFill>
                <a:latin typeface="Aptos"/>
              </a:rPr>
              <a:t>Interpretação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1504" y="2615184"/>
            <a:ext cx="172821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9778B"/>
                </a:solidFill>
                <a:latin typeface="Aptos"/>
              </a:rPr>
              <a:t>O LLM devolve JSON validado por schema strict.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09760" y="1993392"/>
            <a:ext cx="2020824" cy="14173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74352" y="2157984"/>
            <a:ext cx="384048" cy="384048"/>
          </a:xfrm>
          <a:prstGeom prst="ellipse">
            <a:avLst/>
          </a:prstGeom>
          <a:solidFill>
            <a:srgbClr val="227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4352" y="2162556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7F9FC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8128" y="2157984"/>
            <a:ext cx="119786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C2E"/>
                </a:solidFill>
                <a:latin typeface="Aptos"/>
              </a:rPr>
              <a:t>Render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4352" y="2615184"/>
            <a:ext cx="1691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9778B"/>
                </a:solidFill>
                <a:latin typeface="Aptos"/>
              </a:rPr>
              <a:t>Plotly exporta PNG e o ReportLab monta o PDF.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34056" y="2706624"/>
            <a:ext cx="118872" cy="0"/>
          </a:xfrm>
          <a:prstGeom prst="line">
            <a:avLst/>
          </a:prstGeom>
          <a:ln w="19050">
            <a:solidFill>
              <a:srgbClr val="CB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946904" y="2706624"/>
            <a:ext cx="118872" cy="0"/>
          </a:xfrm>
          <a:prstGeom prst="line">
            <a:avLst/>
          </a:prstGeom>
          <a:ln w="19050">
            <a:solidFill>
              <a:srgbClr val="CB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159752" y="2706624"/>
            <a:ext cx="118872" cy="0"/>
          </a:xfrm>
          <a:prstGeom prst="line">
            <a:avLst/>
          </a:prstGeom>
          <a:ln w="19050">
            <a:solidFill>
              <a:srgbClr val="CB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372600" y="2706624"/>
            <a:ext cx="118872" cy="0"/>
          </a:xfrm>
          <a:prstGeom prst="line">
            <a:avLst/>
          </a:prstGeom>
          <a:ln w="19050">
            <a:solidFill>
              <a:srgbClr val="CBD6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8368" y="3858768"/>
            <a:ext cx="3502152" cy="1417320"/>
          </a:xfrm>
          <a:prstGeom prst="roundRect">
            <a:avLst/>
          </a:prstGeom>
          <a:solidFill>
            <a:srgbClr val="E7F1FC"/>
          </a:solidFill>
          <a:ln w="12700">
            <a:solidFill>
              <a:srgbClr val="E7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2270C9"/>
                </a:solidFill>
                <a:latin typeface="Aptos"/>
              </a:rPr>
              <a:t>DADOS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700" b="1">
                <a:solidFill>
                  <a:srgbClr val="0F1C2E"/>
                </a:solidFill>
                <a:latin typeface="Aptos"/>
              </a:rPr>
              <a:t>process_excel_producao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69778B"/>
                </a:solidFill>
                <a:latin typeface="Aptos"/>
              </a:rPr>
              <a:t>Devolve dois DataFrames: o consolidado do dia e a série hora a hora por máquina e prefixo.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3858768"/>
            <a:ext cx="3502152" cy="1417320"/>
          </a:xfrm>
          <a:prstGeom prst="roundRect">
            <a:avLst/>
          </a:prstGeom>
          <a:solidFill>
            <a:srgbClr val="E7F7EF"/>
          </a:solidFill>
          <a:ln w="12700">
            <a:solidFill>
              <a:srgbClr val="E7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2DA673"/>
                </a:solidFill>
                <a:latin typeface="Aptos"/>
              </a:rPr>
              <a:t>IA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700" b="1">
                <a:solidFill>
                  <a:srgbClr val="0F1C2E"/>
                </a:solidFill>
                <a:latin typeface="Aptos"/>
              </a:rPr>
              <a:t>get_anotacoes_interpretadas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69778B"/>
                </a:solidFill>
                <a:latin typeface="Aptos"/>
              </a:rPr>
              <a:t>Chamada assíncrona ao gpt-4.1-mini com json_schema strict: linha do tempo por hora e resumo do dia.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28431" y="3858768"/>
            <a:ext cx="3502152" cy="1417320"/>
          </a:xfrm>
          <a:prstGeom prst="roundRect">
            <a:avLst/>
          </a:prstGeom>
          <a:solidFill>
            <a:srgbClr val="FDF5E1"/>
          </a:solidFill>
          <a:ln w="12700">
            <a:solidFill>
              <a:srgbClr val="FD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F0AA37"/>
                </a:solidFill>
                <a:latin typeface="Aptos"/>
              </a:rPr>
              <a:t>PDF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700" b="1">
                <a:solidFill>
                  <a:srgbClr val="0F1C2E"/>
                </a:solidFill>
                <a:latin typeface="Aptos"/>
              </a:rPr>
              <a:t>gerar_pdf_resumo_anotacoes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69778B"/>
                </a:solidFill>
                <a:latin typeface="Aptos"/>
              </a:rPr>
              <a:t>ReportLab monta tabelas, linha do tempo e os gráficos PNG das máquinas abaixo do objetivo.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5624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9778B"/>
                </a:solidFill>
                <a:latin typeface="Aptos"/>
              </a:rPr>
              <a:t>Automação de Relatórios de Produção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977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70C9"/>
                </a:solidFill>
                <a:latin typeface="Aptos"/>
              </a:rPr>
              <a:t>03 · DECISÕES TÉCNICAS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F1C2E"/>
                </a:solidFill>
                <a:latin typeface="Aptos"/>
              </a:rPr>
              <a:t>Escolhas que sustentam o resultado na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9778B"/>
                </a:solidFill>
                <a:latin typeface="Aptos"/>
              </a:rPr>
              <a:t>A engenharia foi dimensionada para o volume real do turno: um processo, sem banco, com custo de IA controlado e falhas isoladas.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38528"/>
            <a:ext cx="2532888" cy="2423160"/>
          </a:xfrm>
          <a:prstGeom prst="roundRect">
            <a:avLst/>
          </a:prstGeom>
          <a:solidFill>
            <a:srgbClr val="E7F1FC"/>
          </a:solidFill>
          <a:ln w="12700">
            <a:solidFill>
              <a:srgbClr val="E7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B7D2"/>
                </a:solidFill>
                <a:latin typeface="Aptos"/>
              </a:rPr>
              <a:t>01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800" b="1">
                <a:solidFill>
                  <a:srgbClr val="0F1C2E"/>
                </a:solidFill>
                <a:latin typeface="Aptos"/>
              </a:rPr>
              <a:t>Dia Wheaton no código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69778B"/>
                </a:solidFill>
                <a:latin typeface="Aptos"/>
              </a:rPr>
              <a:t>O turno 06:00–05:59 é tratado na ordenação e nos gráficos, não na planilha de origem.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938528"/>
            <a:ext cx="2532888" cy="2423160"/>
          </a:xfrm>
          <a:prstGeom prst="roundRect">
            <a:avLst/>
          </a:prstGeom>
          <a:solidFill>
            <a:srgbClr val="E7F7EF"/>
          </a:solidFill>
          <a:ln w="12700">
            <a:solidFill>
              <a:srgbClr val="E7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DA673"/>
                </a:solidFill>
                <a:latin typeface="Aptos"/>
              </a:rPr>
              <a:t>02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800" b="1">
                <a:solidFill>
                  <a:srgbClr val="0F1C2E"/>
                </a:solidFill>
                <a:latin typeface="Aptos"/>
              </a:rPr>
              <a:t>Saída da IA tipada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69778B"/>
                </a:solidFill>
                <a:latin typeface="Aptos"/>
              </a:rPr>
              <a:t>json_schema strict fixa o contrato de resposta e mantém o resumo preso ao JSON enviado.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938528"/>
            <a:ext cx="2532888" cy="2423160"/>
          </a:xfrm>
          <a:prstGeom prst="roundRect">
            <a:avLst/>
          </a:prstGeom>
          <a:solidFill>
            <a:srgbClr val="FDF5E1"/>
          </a:solidFill>
          <a:ln w="12700">
            <a:solidFill>
              <a:srgbClr val="FD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F0AA37"/>
                </a:solidFill>
                <a:latin typeface="Aptos"/>
              </a:rPr>
              <a:t>03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800" b="1">
                <a:solidFill>
                  <a:srgbClr val="0F1C2E"/>
                </a:solidFill>
                <a:latin typeface="Aptos"/>
              </a:rPr>
              <a:t>Chamada sob demanda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69778B"/>
                </a:solidFill>
                <a:latin typeface="Aptos"/>
              </a:rPr>
              <a:t>A IA só roda para as máquinas abaixo do objetivo, com o resultado em cache na sessão.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938528"/>
            <a:ext cx="2532888" cy="2423160"/>
          </a:xfrm>
          <a:prstGeom prst="roundRect">
            <a:avLst/>
          </a:prstGeom>
          <a:solidFill>
            <a:srgbClr val="E7F1FC"/>
          </a:solidFill>
          <a:ln w="12700">
            <a:solidFill>
              <a:srgbClr val="E7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270C9"/>
                </a:solidFill>
                <a:latin typeface="Aptos"/>
              </a:rPr>
              <a:t>04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800" b="1">
                <a:solidFill>
                  <a:srgbClr val="0F1C2E"/>
                </a:solidFill>
                <a:latin typeface="Aptos"/>
              </a:rPr>
              <a:t>Degradação controlada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69778B"/>
                </a:solidFill>
                <a:latin typeface="Aptos"/>
              </a:rPr>
              <a:t>Falha ao exportar o PNG omite apenas o gráfico; o relatório continua sendo gerado.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4800600"/>
            <a:ext cx="9720072" cy="960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CB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F0AA37"/>
                </a:solidFill>
                <a:latin typeface="Aptos"/>
              </a:rPr>
              <a:t>Escopo da IA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0F1C2E"/>
                </a:solidFill>
                <a:latin typeface="Aptos"/>
              </a:rPr>
              <a:t>Interpretar e padronizar anotações — entrada e saída em JSON, sem acesso a dados fora do arquivo enviado.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55624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9778B"/>
                </a:solidFill>
                <a:latin typeface="Aptos"/>
              </a:rPr>
              <a:t>Automação de Relatórios de Produção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977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70C9"/>
                </a:solidFill>
                <a:latin typeface="Aptos"/>
              </a:rPr>
              <a:t>04 · ESTÁGIO E OPERAÇÃO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10881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0F1C2E"/>
                </a:solidFill>
                <a:latin typeface="Aptos"/>
              </a:rPr>
              <a:t>MVP em produção na VM, com evolução em andamento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9786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9778B"/>
                </a:solidFill>
                <a:latin typeface="Aptos"/>
              </a:rPr>
              <a:t>A imagem roda como stack no Portainer, com redeploy a partir do repositório e segredos fora do código; a próxima fase é confiabilidade.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72768"/>
            <a:ext cx="10881360" cy="18288"/>
          </a:xfrm>
          <a:prstGeom prst="rect">
            <a:avLst/>
          </a:prstGeom>
          <a:solidFill>
            <a:srgbClr val="CB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3502152" cy="2944368"/>
          </a:xfrm>
          <a:prstGeom prst="roundRect">
            <a:avLst/>
          </a:prstGeom>
          <a:solidFill>
            <a:srgbClr val="E7F7EF"/>
          </a:solidFill>
          <a:ln w="12700">
            <a:solidFill>
              <a:srgbClr val="E7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100" b="1">
                <a:solidFill>
                  <a:srgbClr val="2DA673"/>
                </a:solidFill>
                <a:latin typeface="Aptos"/>
              </a:rPr>
              <a:t>JÁ ENTREGUE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6303F"/>
                </a:solidFill>
                <a:latin typeface="Aptos"/>
              </a:rPr>
              <a:t>• Pipeline completo .xlsx → PDF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6303F"/>
                </a:solidFill>
                <a:latin typeface="Aptos"/>
              </a:rPr>
              <a:t>• Gráfico hora a hora por prefixo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6303F"/>
                </a:solidFill>
                <a:latin typeface="Aptos"/>
              </a:rPr>
              <a:t>• Resumo com IA em JSON validado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6303F"/>
                </a:solidFill>
                <a:latin typeface="Aptos"/>
              </a:rPr>
              <a:t>• Imagem Docker com Chromium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303F"/>
                </a:solidFill>
                <a:latin typeface="Aptos"/>
              </a:rPr>
              <a:t>• Deploy na VM via Portainer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502152" cy="2944368"/>
          </a:xfrm>
          <a:prstGeom prst="roundRect">
            <a:avLst/>
          </a:prstGeom>
          <a:solidFill>
            <a:srgbClr val="FDF5E1"/>
          </a:solidFill>
          <a:ln w="12700">
            <a:solidFill>
              <a:srgbClr val="FD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100" b="1">
                <a:solidFill>
                  <a:srgbClr val="F0AA37"/>
                </a:solidFill>
                <a:latin typeface="Aptos"/>
              </a:rPr>
              <a:t>EM VALIDAÇÃO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6303F"/>
                </a:solidFill>
                <a:latin typeface="Aptos"/>
              </a:rPr>
              <a:t>• Variações de layout das planilhas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6303F"/>
                </a:solidFill>
                <a:latin typeface="Aptos"/>
              </a:rPr>
              <a:t>• Qualidade do resumo da IA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6303F"/>
                </a:solidFill>
                <a:latin typeface="Aptos"/>
              </a:rPr>
              <a:t>• Custo e latência das chamadas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303F"/>
                </a:solidFill>
                <a:latin typeface="Aptos"/>
              </a:rPr>
              <a:t>• Formato final do relatório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1" y="1920240"/>
            <a:ext cx="3502152" cy="2944368"/>
          </a:xfrm>
          <a:prstGeom prst="roundRect">
            <a:avLst/>
          </a:prstGeom>
          <a:solidFill>
            <a:srgbClr val="E7F1FC"/>
          </a:solidFill>
          <a:ln w="12700">
            <a:solidFill>
              <a:srgbClr val="E7F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100" b="1">
                <a:solidFill>
                  <a:srgbClr val="2270C9"/>
                </a:solidFill>
                <a:latin typeface="Aptos"/>
              </a:rPr>
              <a:t>PRÓXIMO CICLO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6303F"/>
                </a:solidFill>
                <a:latin typeface="Aptos"/>
              </a:rPr>
              <a:t>• Testes dos fluxos críticos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6303F"/>
                </a:solidFill>
                <a:latin typeface="Aptos"/>
              </a:rPr>
              <a:t>• Tratar planilhas fora do padrão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0">
                <a:solidFill>
                  <a:srgbClr val="26303F"/>
                </a:solidFill>
                <a:latin typeface="Aptos"/>
              </a:rPr>
              <a:t>• Logs e observabilidade do deploy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>
                <a:solidFill>
                  <a:srgbClr val="26303F"/>
                </a:solidFill>
                <a:latin typeface="Aptos"/>
              </a:rPr>
              <a:t>• Refino do layout do 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5285232"/>
            <a:ext cx="8321040" cy="841248"/>
          </a:xfrm>
          <a:prstGeom prst="roundRect">
            <a:avLst/>
          </a:prstGeom>
          <a:solidFill>
            <a:srgbClr val="0F1C2E"/>
          </a:solidFill>
          <a:ln w="12700">
            <a:solidFill>
              <a:srgbClr val="0F1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22B7D2"/>
                </a:solidFill>
                <a:latin typeface="Aptos"/>
              </a:rPr>
              <a:t>Próximo passo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7F9FC"/>
                </a:solidFill>
                <a:latin typeface="Aptos"/>
              </a:rPr>
              <a:t>Consolidar a confiabilidade do parse e a cobertura de testes antes de ampliar o uso.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55624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9778B"/>
                </a:solidFill>
                <a:latin typeface="Aptos"/>
              </a:rPr>
              <a:t>Automação de Relatórios de Produção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977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