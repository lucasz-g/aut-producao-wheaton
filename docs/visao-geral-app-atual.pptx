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C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2B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49808" y="621792"/>
            <a:ext cx="2834640" cy="329184"/>
          </a:xfrm>
          <a:prstGeom prst="roundRect">
            <a:avLst/>
          </a:prstGeom>
          <a:solidFill>
            <a:srgbClr val="17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22B7D2"/>
                </a:solidFill>
                <a:latin typeface="Aptos"/>
              </a:rPr>
              <a:t>VISÃO DO PRODUTO · SNAPSHOT ATUAL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234440"/>
            <a:ext cx="67665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7F9FC"/>
                </a:solidFill>
                <a:latin typeface="Aptos"/>
              </a:rPr>
              <a:t>Automação de Relatórios
de Produção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2788920"/>
            <a:ext cx="67665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BECFE0"/>
                </a:solidFill>
                <a:latin typeface="Aptos"/>
              </a:rPr>
              <a:t>Da leitura das planilhas a uma visão diária pronta para compartilhar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3703320"/>
            <a:ext cx="1280160" cy="329184"/>
          </a:xfrm>
          <a:prstGeom prst="roundRect">
            <a:avLst/>
          </a:prstGeom>
          <a:solidFill>
            <a:srgbClr val="17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22B7D2"/>
                </a:solidFill>
                <a:latin typeface="Aptos"/>
              </a:rPr>
              <a:t>VISÃO DIÁRIA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3703320"/>
            <a:ext cx="1280160" cy="329184"/>
          </a:xfrm>
          <a:prstGeom prst="roundRect">
            <a:avLst/>
          </a:prstGeom>
          <a:solidFill>
            <a:srgbClr val="17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2DA673"/>
                </a:solidFill>
                <a:latin typeface="Aptos"/>
              </a:rPr>
              <a:t>HORA A HORA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75887" y="3703320"/>
            <a:ext cx="1600200" cy="329184"/>
          </a:xfrm>
          <a:prstGeom prst="roundRect">
            <a:avLst/>
          </a:prstGeom>
          <a:solidFill>
            <a:srgbClr val="17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F0AA37"/>
                </a:solidFill>
                <a:latin typeface="Aptos"/>
              </a:rPr>
              <a:t>RESUMO COM 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96128" y="3703320"/>
            <a:ext cx="1600200" cy="329184"/>
          </a:xfrm>
          <a:prstGeom prst="roundRect">
            <a:avLst/>
          </a:prstGeom>
          <a:solidFill>
            <a:srgbClr val="17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/>
          <a:lstStyle/>
          <a:p>
            <a:pPr algn="ctr"/>
            <a:r>
              <a:rPr sz="1000" b="1">
                <a:solidFill>
                  <a:srgbClr val="BE8CF0"/>
                </a:solidFill>
                <a:latin typeface="Aptos"/>
              </a:rPr>
              <a:t>RELATÓRIO 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36992" y="1078992"/>
            <a:ext cx="3246120" cy="1143000"/>
          </a:xfrm>
          <a:prstGeom prst="roundRect">
            <a:avLst/>
          </a:prstGeom>
          <a:solidFill>
            <a:srgbClr val="172A43"/>
          </a:solidFill>
          <a:ln w="12700">
            <a:solidFill>
              <a:srgbClr val="17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800"/>
              </a:spcAft>
            </a:pPr>
            <a:r>
              <a:rPr sz="1100" b="1">
                <a:solidFill>
                  <a:srgbClr val="22B7D2"/>
                </a:solidFill>
                <a:latin typeface="Aptos"/>
              </a:rPr>
              <a:t>ENTRADAS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F7F9FC"/>
                </a:solidFill>
                <a:latin typeface="Aptos"/>
              </a:rPr>
              <a:t>Produção.xlsx
Notas.xlsx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555480" y="2240280"/>
            <a:ext cx="0" cy="365760"/>
          </a:xfrm>
          <a:prstGeom prst="line">
            <a:avLst/>
          </a:prstGeom>
          <a:ln w="25400">
            <a:solidFill>
              <a:srgbClr val="22B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36992" y="2633472"/>
            <a:ext cx="3246120" cy="1115568"/>
          </a:xfrm>
          <a:prstGeom prst="roundRect">
            <a:avLst/>
          </a:prstGeom>
          <a:solidFill>
            <a:srgbClr val="2270C9"/>
          </a:solidFill>
          <a:ln w="12700">
            <a:solidFill>
              <a:srgbClr val="2270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2100" b="1">
                <a:solidFill>
                  <a:srgbClr val="F7F9FC"/>
                </a:solidFill>
                <a:latin typeface="Aptos"/>
              </a:rPr>
              <a:t>Aplicativo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BECFE0"/>
                </a:solidFill>
                <a:latin typeface="Aptos"/>
              </a:rPr>
              <a:t>organiza, interpreta e apresenta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55480" y="3776472"/>
            <a:ext cx="0" cy="365760"/>
          </a:xfrm>
          <a:prstGeom prst="line">
            <a:avLst/>
          </a:prstGeom>
          <a:ln w="25400">
            <a:solidFill>
              <a:srgbClr val="22B7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36992" y="4169663"/>
            <a:ext cx="3246120" cy="1261872"/>
          </a:xfrm>
          <a:prstGeom prst="roundRect">
            <a:avLst/>
          </a:prstGeom>
          <a:solidFill>
            <a:srgbClr val="172A43"/>
          </a:solidFill>
          <a:ln w="12700">
            <a:solidFill>
              <a:srgbClr val="17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800"/>
              </a:spcAft>
            </a:pPr>
            <a:r>
              <a:rPr sz="1100" b="1">
                <a:solidFill>
                  <a:srgbClr val="22B7D2"/>
                </a:solidFill>
                <a:latin typeface="Aptos"/>
              </a:rPr>
              <a:t>SAÍDAS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F7F9FC"/>
                </a:solidFill>
                <a:latin typeface="Aptos"/>
              </a:rPr>
              <a:t>Tabela · Gráfico
Resumo · PDF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6144768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6ACC3"/>
                </a:solidFill>
                <a:latin typeface="Aptos"/>
              </a:rPr>
              <a:t>5 slides · visão do produto e estágio atual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0656" y="61447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96ACC3"/>
                </a:solidFill>
                <a:latin typeface="Aptos"/>
              </a:rPr>
              <a:t>28 AGO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70C9"/>
                </a:solidFill>
                <a:latin typeface="Aptos"/>
              </a:rPr>
              <a:t>01 · VISÃO DO PRODUTO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0F1C2E"/>
                </a:solidFill>
                <a:latin typeface="Aptos"/>
              </a:rPr>
              <a:t>Uma visão mais clara do dia de produção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9778B"/>
                </a:solidFill>
                <a:latin typeface="Aptos"/>
              </a:rPr>
              <a:t>O aplicativo transforma planilhas operacionais em informação pronta para acompanhamento e comunicação.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881360" cy="18288"/>
          </a:xfrm>
          <a:prstGeom prst="rect">
            <a:avLst/>
          </a:prstGeom>
          <a:solidFill>
            <a:srgbClr val="CBD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65960"/>
            <a:ext cx="3246120" cy="2240280"/>
          </a:xfrm>
          <a:prstGeom prst="roundRect">
            <a:avLst/>
          </a:prstGeom>
          <a:solidFill>
            <a:srgbClr val="FCEDED"/>
          </a:solidFill>
          <a:ln w="12700">
            <a:solidFill>
              <a:srgbClr val="FCED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DC4E4E"/>
                </a:solidFill>
                <a:latin typeface="Aptos"/>
              </a:rPr>
              <a:t>DESAFIO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0F1C2E"/>
                </a:solidFill>
                <a:latin typeface="Aptos"/>
              </a:rPr>
              <a:t>Dados e anotações chegam separados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69778B"/>
                </a:solidFill>
                <a:latin typeface="Aptos"/>
              </a:rPr>
              <a:t>A leitura manual dificulta enxergar rapidamente onde agir e como explicar o que aconteceu.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41648" y="3063240"/>
            <a:ext cx="457200" cy="0"/>
          </a:xfrm>
          <a:prstGeom prst="line">
            <a:avLst/>
          </a:prstGeom>
          <a:ln w="25400">
            <a:solidFill>
              <a:srgbClr val="CBD6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36008" y="1965960"/>
            <a:ext cx="3246120" cy="2240280"/>
          </a:xfrm>
          <a:prstGeom prst="roundRect">
            <a:avLst/>
          </a:prstGeom>
          <a:solidFill>
            <a:srgbClr val="E7F1FC"/>
          </a:solidFill>
          <a:ln w="12700">
            <a:solidFill>
              <a:srgbClr val="E7F1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2270C9"/>
                </a:solidFill>
                <a:latin typeface="Aptos"/>
              </a:rPr>
              <a:t>PRODUTO ATUAL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0F1C2E"/>
                </a:solidFill>
                <a:latin typeface="Aptos"/>
              </a:rPr>
              <a:t>Centraliza desempenho e contexto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69778B"/>
                </a:solidFill>
                <a:latin typeface="Aptos"/>
              </a:rPr>
              <a:t>Reúne indicadores diários, evolução hora a hora e registros dos operadores em uma única experiência.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19288" y="3063240"/>
            <a:ext cx="457200" cy="0"/>
          </a:xfrm>
          <a:prstGeom prst="line">
            <a:avLst/>
          </a:prstGeom>
          <a:ln w="25400">
            <a:solidFill>
              <a:srgbClr val="CBD6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13648" y="1965960"/>
            <a:ext cx="2916936" cy="2240280"/>
          </a:xfrm>
          <a:prstGeom prst="roundRect">
            <a:avLst/>
          </a:prstGeom>
          <a:solidFill>
            <a:srgbClr val="E7F7EF"/>
          </a:solidFill>
          <a:ln w="12700">
            <a:solidFill>
              <a:srgbClr val="E7F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2DA673"/>
                </a:solidFill>
                <a:latin typeface="Aptos"/>
              </a:rPr>
              <a:t>RESULTADO ESPERADO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900" b="1">
                <a:solidFill>
                  <a:srgbClr val="0F1C2E"/>
                </a:solidFill>
                <a:latin typeface="Aptos"/>
              </a:rPr>
              <a:t>Mais rapidez para compreender o turno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69778B"/>
                </a:solidFill>
                <a:latin typeface="Aptos"/>
              </a:rPr>
              <a:t>A equipe identifica desvios, consulta ocorrências e prepara um relatório diário com menos esforço manual.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01952" y="4681728"/>
            <a:ext cx="8394192" cy="960120"/>
          </a:xfrm>
          <a:prstGeom prst="roundRect">
            <a:avLst/>
          </a:prstGeom>
          <a:solidFill>
            <a:srgbClr val="0F1C2E"/>
          </a:solidFill>
          <a:ln w="12700">
            <a:solidFill>
              <a:srgbClr val="0F1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000" b="1">
                <a:solidFill>
                  <a:srgbClr val="22B7D2"/>
                </a:solidFill>
                <a:latin typeface="Aptos"/>
              </a:rPr>
              <a:t>Proposta de valor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F7F9FC"/>
                </a:solidFill>
                <a:latin typeface="Aptos"/>
              </a:rPr>
              <a:t>Transformar dados dispersos do turno em uma leitura operacional simples, contextualizada e compartilhável.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55624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78B"/>
                </a:solidFill>
                <a:latin typeface="Aptos"/>
              </a:rPr>
              <a:t>Automação de Relatórios de Produção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1052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9778B"/>
                </a:solidFill>
                <a:latin typeface="Apto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70C9"/>
                </a:solidFill>
                <a:latin typeface="Aptos"/>
              </a:rPr>
              <a:t>02 · EXPERIÊNCIA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0F1C2E"/>
                </a:solidFill>
                <a:latin typeface="Aptos"/>
              </a:rPr>
              <a:t>Uma jornada curta: carregar, entender e compartilhar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9778B"/>
                </a:solidFill>
                <a:latin typeface="Aptos"/>
              </a:rPr>
              <a:t>O produto conduz o usuário do arquivo bruto até um relatório utilizável em poucos passos.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881360" cy="18288"/>
          </a:xfrm>
          <a:prstGeom prst="rect">
            <a:avLst/>
          </a:prstGeom>
          <a:solidFill>
            <a:srgbClr val="CBD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93392"/>
            <a:ext cx="2057400" cy="1417320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CBD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57984"/>
            <a:ext cx="384048" cy="384048"/>
          </a:xfrm>
          <a:prstGeom prst="ellipse">
            <a:avLst/>
          </a:prstGeom>
          <a:solidFill>
            <a:srgbClr val="22B7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162556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7F9FC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2157984"/>
            <a:ext cx="1234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C2E"/>
                </a:solidFill>
                <a:latin typeface="Aptos"/>
              </a:rPr>
              <a:t>Carregar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15184"/>
            <a:ext cx="1728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9778B"/>
                </a:solidFill>
                <a:latin typeface="Aptos"/>
              </a:rPr>
              <a:t>Importar a planilha de produção e o bloco de notas.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1993392"/>
            <a:ext cx="2057400" cy="1417320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CBD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35808" y="2157984"/>
            <a:ext cx="384048" cy="384048"/>
          </a:xfrm>
          <a:prstGeom prst="ellipse">
            <a:avLst/>
          </a:prstGeom>
          <a:solidFill>
            <a:srgbClr val="2270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2162556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7F9FC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157984"/>
            <a:ext cx="1234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C2E"/>
                </a:solidFill>
                <a:latin typeface="Aptos"/>
              </a:rPr>
              <a:t>Acompanhar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35808" y="2615184"/>
            <a:ext cx="1728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9778B"/>
                </a:solidFill>
                <a:latin typeface="Aptos"/>
              </a:rPr>
              <a:t>Ver o desempenho diário e a evolução hora a hora.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4064" y="1993392"/>
            <a:ext cx="2057400" cy="1417320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CBD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48655" y="2157984"/>
            <a:ext cx="384048" cy="384048"/>
          </a:xfrm>
          <a:prstGeom prst="ellipse">
            <a:avLst/>
          </a:prstGeom>
          <a:solidFill>
            <a:srgbClr val="F0A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48655" y="2162556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7F9FC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42431" y="2157984"/>
            <a:ext cx="1234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C2E"/>
                </a:solidFill>
                <a:latin typeface="Aptos"/>
              </a:rPr>
              <a:t>Priorizar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5" y="2615184"/>
            <a:ext cx="1728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9778B"/>
                </a:solidFill>
                <a:latin typeface="Aptos"/>
              </a:rPr>
              <a:t>Filtrar máquinas abaixo ou acima do objetivo.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6912" y="1993392"/>
            <a:ext cx="2057400" cy="1417320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CBD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461504" y="2157984"/>
            <a:ext cx="384048" cy="384048"/>
          </a:xfrm>
          <a:prstGeom prst="ellipse">
            <a:avLst/>
          </a:prstGeom>
          <a:solidFill>
            <a:srgbClr val="2DA6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2162556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7F9FC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0" y="2157984"/>
            <a:ext cx="1234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C2E"/>
                </a:solidFill>
                <a:latin typeface="Aptos"/>
              </a:rPr>
              <a:t>Contextualizar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61504" y="2615184"/>
            <a:ext cx="172821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9778B"/>
                </a:solidFill>
                <a:latin typeface="Aptos"/>
              </a:rPr>
              <a:t>Selecionar máquinas e interpretar as ocorrências do dia.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09760" y="1993392"/>
            <a:ext cx="2020824" cy="1417320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CBD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74352" y="2157984"/>
            <a:ext cx="384048" cy="384048"/>
          </a:xfrm>
          <a:prstGeom prst="ellipse">
            <a:avLst/>
          </a:prstGeom>
          <a:solidFill>
            <a:srgbClr val="2270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4352" y="2162556"/>
            <a:ext cx="3840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7F9FC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8128" y="2157984"/>
            <a:ext cx="1197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F1C2E"/>
                </a:solidFill>
                <a:latin typeface="Aptos"/>
              </a:rPr>
              <a:t>Compartilhar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4352" y="2615184"/>
            <a:ext cx="1691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9778B"/>
                </a:solidFill>
                <a:latin typeface="Aptos"/>
              </a:rPr>
              <a:t>Baixar um relatório diário consolidado em PDF.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734056" y="2706624"/>
            <a:ext cx="118872" cy="0"/>
          </a:xfrm>
          <a:prstGeom prst="line">
            <a:avLst/>
          </a:prstGeom>
          <a:ln w="19050">
            <a:solidFill>
              <a:srgbClr val="CBD6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946904" y="2706624"/>
            <a:ext cx="118872" cy="0"/>
          </a:xfrm>
          <a:prstGeom prst="line">
            <a:avLst/>
          </a:prstGeom>
          <a:ln w="19050">
            <a:solidFill>
              <a:srgbClr val="CBD6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59752" y="2706624"/>
            <a:ext cx="118872" cy="0"/>
          </a:xfrm>
          <a:prstGeom prst="line">
            <a:avLst/>
          </a:prstGeom>
          <a:ln w="19050">
            <a:solidFill>
              <a:srgbClr val="CBD6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372600" y="2706624"/>
            <a:ext cx="118872" cy="0"/>
          </a:xfrm>
          <a:prstGeom prst="line">
            <a:avLst/>
          </a:prstGeom>
          <a:ln w="19050">
            <a:solidFill>
              <a:srgbClr val="CBD6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58368" y="3858768"/>
            <a:ext cx="3502152" cy="1417320"/>
          </a:xfrm>
          <a:prstGeom prst="roundRect">
            <a:avLst/>
          </a:prstGeom>
          <a:solidFill>
            <a:srgbClr val="E7F1FC"/>
          </a:solidFill>
          <a:ln w="12700">
            <a:solidFill>
              <a:srgbClr val="E7F1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2270C9"/>
                </a:solidFill>
                <a:latin typeface="Aptos"/>
              </a:rPr>
              <a:t>PRODUÇÃO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700" b="1">
                <a:solidFill>
                  <a:srgbClr val="0F1C2E"/>
                </a:solidFill>
                <a:latin typeface="Aptos"/>
              </a:rPr>
              <a:t>O que está acontecendo?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69778B"/>
                </a:solidFill>
                <a:latin typeface="Aptos"/>
              </a:rPr>
              <a:t>Tabela resumida, leitura por objetivo e gráfico hora a hora por máquina e prefixo.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3858768"/>
            <a:ext cx="3502152" cy="1417320"/>
          </a:xfrm>
          <a:prstGeom prst="roundRect">
            <a:avLst/>
          </a:prstGeom>
          <a:solidFill>
            <a:srgbClr val="E7F7EF"/>
          </a:solidFill>
          <a:ln w="12700">
            <a:solidFill>
              <a:srgbClr val="E7F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2DA673"/>
                </a:solidFill>
                <a:latin typeface="Aptos"/>
              </a:rPr>
              <a:t>NOTAS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700" b="1">
                <a:solidFill>
                  <a:srgbClr val="0F1C2E"/>
                </a:solidFill>
                <a:latin typeface="Aptos"/>
              </a:rPr>
              <a:t>Por que aconteceu?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69778B"/>
                </a:solidFill>
                <a:latin typeface="Aptos"/>
              </a:rPr>
              <a:t>Registros dos operadores podem ser consultados por máquina e resumidos com apoio de IA.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28431" y="3858768"/>
            <a:ext cx="3502152" cy="1417320"/>
          </a:xfrm>
          <a:prstGeom prst="roundRect">
            <a:avLst/>
          </a:prstGeom>
          <a:solidFill>
            <a:srgbClr val="FDF5E1"/>
          </a:solidFill>
          <a:ln w="12700">
            <a:solidFill>
              <a:srgbClr val="FDF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F0AA37"/>
                </a:solidFill>
                <a:latin typeface="Aptos"/>
              </a:rPr>
              <a:t>RELATÓRIO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700" b="1">
                <a:solidFill>
                  <a:srgbClr val="0F1C2E"/>
                </a:solidFill>
                <a:latin typeface="Aptos"/>
              </a:rPr>
              <a:t>Como comunicar?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69778B"/>
                </a:solidFill>
                <a:latin typeface="Aptos"/>
              </a:rPr>
              <a:t>Desempenho e contexto são reunidos em um material diário pronto para download.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55624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78B"/>
                </a:solidFill>
                <a:latin typeface="Aptos"/>
              </a:rPr>
              <a:t>Automação de Relatórios de Produção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51052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9778B"/>
                </a:solidFill>
                <a:latin typeface="Apto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70C9"/>
                </a:solidFill>
                <a:latin typeface="Aptos"/>
              </a:rPr>
              <a:t>03 · VALOR PARA A OPERAÇÃO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0F1C2E"/>
                </a:solidFill>
                <a:latin typeface="Aptos"/>
              </a:rPr>
              <a:t>O produto reduz esforço de leitura e melhora o foco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9778B"/>
                </a:solidFill>
                <a:latin typeface="Aptos"/>
              </a:rPr>
              <a:t>A proposta não é apenas exibir números, mas transformar o fechamento do turno em uma conversa mais objetiva.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881360" cy="18288"/>
          </a:xfrm>
          <a:prstGeom prst="rect">
            <a:avLst/>
          </a:prstGeom>
          <a:solidFill>
            <a:srgbClr val="CBD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38528"/>
            <a:ext cx="2532888" cy="2423160"/>
          </a:xfrm>
          <a:prstGeom prst="roundRect">
            <a:avLst/>
          </a:prstGeom>
          <a:solidFill>
            <a:srgbClr val="E7F1FC"/>
          </a:solidFill>
          <a:ln w="12700">
            <a:solidFill>
              <a:srgbClr val="E7F1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B7D2"/>
                </a:solidFill>
                <a:latin typeface="Aptos"/>
              </a:rPr>
              <a:t>01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0F1C2E"/>
                </a:solidFill>
                <a:latin typeface="Aptos"/>
              </a:rPr>
              <a:t>Leitura rápida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69778B"/>
                </a:solidFill>
                <a:latin typeface="Aptos"/>
              </a:rPr>
              <a:t>Indicadores e cores facilitam perceber quais máquinas precisam de atenção.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0712" y="1938528"/>
            <a:ext cx="2532888" cy="2423160"/>
          </a:xfrm>
          <a:prstGeom prst="roundRect">
            <a:avLst/>
          </a:prstGeom>
          <a:solidFill>
            <a:srgbClr val="E7F7EF"/>
          </a:solidFill>
          <a:ln w="12700">
            <a:solidFill>
              <a:srgbClr val="E7F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DA673"/>
                </a:solidFill>
                <a:latin typeface="Aptos"/>
              </a:rPr>
              <a:t>02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0F1C2E"/>
                </a:solidFill>
                <a:latin typeface="Aptos"/>
              </a:rPr>
              <a:t>Contexto junto do número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69778B"/>
                </a:solidFill>
                <a:latin typeface="Aptos"/>
              </a:rPr>
              <a:t>As ocorrências dos operadores ajudam a explicar o desempenho observado.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3056" y="1938528"/>
            <a:ext cx="2532888" cy="2423160"/>
          </a:xfrm>
          <a:prstGeom prst="roundRect">
            <a:avLst/>
          </a:prstGeom>
          <a:solidFill>
            <a:srgbClr val="FDF5E1"/>
          </a:solidFill>
          <a:ln w="12700">
            <a:solidFill>
              <a:srgbClr val="FDF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F0AA37"/>
                </a:solidFill>
                <a:latin typeface="Aptos"/>
              </a:rPr>
              <a:t>03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0F1C2E"/>
                </a:solidFill>
                <a:latin typeface="Aptos"/>
              </a:rPr>
              <a:t>Resumo mais consistente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69778B"/>
                </a:solidFill>
                <a:latin typeface="Aptos"/>
              </a:rPr>
              <a:t>A IA padroniza as anotações sem substituir a informação fornecida pela operação.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938528"/>
            <a:ext cx="2532888" cy="2423160"/>
          </a:xfrm>
          <a:prstGeom prst="roundRect">
            <a:avLst/>
          </a:prstGeom>
          <a:solidFill>
            <a:srgbClr val="E7F1FC"/>
          </a:solidFill>
          <a:ln w="12700">
            <a:solidFill>
              <a:srgbClr val="E7F1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800"/>
              </a:spcAft>
            </a:pPr>
            <a:r>
              <a:rPr sz="1300" b="1">
                <a:solidFill>
                  <a:srgbClr val="2270C9"/>
                </a:solidFill>
                <a:latin typeface="Aptos"/>
              </a:rPr>
              <a:t>04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800" b="1">
                <a:solidFill>
                  <a:srgbClr val="0F1C2E"/>
                </a:solidFill>
                <a:latin typeface="Aptos"/>
              </a:rPr>
              <a:t>Comunicação reutilizável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69778B"/>
                </a:solidFill>
                <a:latin typeface="Aptos"/>
              </a:rPr>
              <a:t>O relatório em PDF cria uma saída simples para acompanhamento e compartilhamento.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4800600"/>
            <a:ext cx="9720072" cy="960120"/>
          </a:xfrm>
          <a:prstGeom prst="roundRect">
            <a:avLst/>
          </a:prstGeom>
          <a:solidFill>
            <a:srgbClr val="F7F9FC"/>
          </a:solidFill>
          <a:ln w="12700">
            <a:solidFill>
              <a:srgbClr val="CBD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500"/>
              </a:spcAft>
            </a:pPr>
            <a:r>
              <a:rPr sz="1000" b="1">
                <a:solidFill>
                  <a:srgbClr val="F0AA37"/>
                </a:solidFill>
                <a:latin typeface="Aptos"/>
              </a:rPr>
              <a:t>Papel da IA no produto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0F1C2E"/>
                </a:solidFill>
                <a:latin typeface="Aptos"/>
              </a:rPr>
              <a:t>Apoiar a interpretação e a padronização das anotações — sempre usando somente o conteúdo enviado pelo usuário.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55624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78B"/>
                </a:solidFill>
                <a:latin typeface="Aptos"/>
              </a:rPr>
              <a:t>Automação de Relatórios de Produção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9778B"/>
                </a:solidFill>
                <a:latin typeface="Apto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2270C9"/>
                </a:solidFill>
                <a:latin typeface="Aptos"/>
              </a:rPr>
              <a:t>04 · ESTÁGIO ATUAL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008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0F1C2E"/>
                </a:solidFill>
                <a:latin typeface="Aptos"/>
              </a:rPr>
              <a:t>Um MVP em evolução, com a experiência principal já desenhada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197864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69778B"/>
                </a:solidFill>
                <a:latin typeface="Aptos"/>
              </a:rPr>
              <a:t>O caminho de produção até relatório existe; a próxima fase é consolidar a qualidade e validar o uso no processo real.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881360" cy="18288"/>
          </a:xfrm>
          <a:prstGeom prst="rect">
            <a:avLst/>
          </a:prstGeom>
          <a:solidFill>
            <a:srgbClr val="CBD6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920240"/>
            <a:ext cx="3502152" cy="2944368"/>
          </a:xfrm>
          <a:prstGeom prst="roundRect">
            <a:avLst/>
          </a:prstGeom>
          <a:solidFill>
            <a:srgbClr val="E7F7EF"/>
          </a:solidFill>
          <a:ln w="12700">
            <a:solidFill>
              <a:srgbClr val="E7F7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2DA673"/>
                </a:solidFill>
                <a:latin typeface="Aptos"/>
              </a:rPr>
              <a:t>JÁ ENTREGUE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26303F"/>
                </a:solidFill>
                <a:latin typeface="Aptos"/>
              </a:rPr>
              <a:t>• Upload das duas fontes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26303F"/>
                </a:solidFill>
                <a:latin typeface="Aptos"/>
              </a:rPr>
              <a:t>• Resumo diário e hora a hora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26303F"/>
                </a:solidFill>
                <a:latin typeface="Aptos"/>
              </a:rPr>
              <a:t>• Filtro por situação do objetivo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26303F"/>
                </a:solidFill>
                <a:latin typeface="Aptos"/>
              </a:rPr>
              <a:t>• Consulta de notas por máquina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6303F"/>
                </a:solidFill>
                <a:latin typeface="Aptos"/>
              </a:rPr>
              <a:t>• Resumo com IA e download em PDF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920240"/>
            <a:ext cx="3502152" cy="2944368"/>
          </a:xfrm>
          <a:prstGeom prst="roundRect">
            <a:avLst/>
          </a:prstGeom>
          <a:solidFill>
            <a:srgbClr val="FDF5E1"/>
          </a:solidFill>
          <a:ln w="12700">
            <a:solidFill>
              <a:srgbClr val="FDF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F0AA37"/>
                </a:solidFill>
                <a:latin typeface="Aptos"/>
              </a:rPr>
              <a:t>EM VALIDAÇÃO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26303F"/>
                </a:solidFill>
                <a:latin typeface="Aptos"/>
              </a:rPr>
              <a:t>• Formato final do relatório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26303F"/>
                </a:solidFill>
                <a:latin typeface="Aptos"/>
              </a:rPr>
              <a:t>• Clareza do resumo para a operação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26303F"/>
                </a:solidFill>
                <a:latin typeface="Aptos"/>
              </a:rPr>
              <a:t>• Qualidade dos dados recebidos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6303F"/>
                </a:solidFill>
                <a:latin typeface="Aptos"/>
              </a:rPr>
              <a:t>• Fluxo completo com arquivos reais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1920240"/>
            <a:ext cx="3502152" cy="2944368"/>
          </a:xfrm>
          <a:prstGeom prst="roundRect">
            <a:avLst/>
          </a:prstGeom>
          <a:solidFill>
            <a:srgbClr val="E7F1FC"/>
          </a:solidFill>
          <a:ln w="12700">
            <a:solidFill>
              <a:srgbClr val="E7F1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2270C9"/>
                </a:solidFill>
                <a:latin typeface="Aptos"/>
              </a:rPr>
              <a:t>PRÓXIMO CICLO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26303F"/>
                </a:solidFill>
                <a:latin typeface="Aptos"/>
              </a:rPr>
              <a:t>• Refinar o relatório diário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26303F"/>
                </a:solidFill>
                <a:latin typeface="Aptos"/>
              </a:rPr>
              <a:t>• Validar com usuários da rotina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300" b="0">
                <a:solidFill>
                  <a:srgbClr val="26303F"/>
                </a:solidFill>
                <a:latin typeface="Aptos"/>
              </a:rPr>
              <a:t>• Tratar variações das planilhas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6303F"/>
                </a:solidFill>
                <a:latin typeface="Aptos"/>
              </a:rPr>
              <a:t>• Criar testes para os fluxos críticos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38528" y="5285232"/>
            <a:ext cx="8321040" cy="841248"/>
          </a:xfrm>
          <a:prstGeom prst="roundRect">
            <a:avLst/>
          </a:prstGeom>
          <a:solidFill>
            <a:srgbClr val="0F1C2E"/>
          </a:solidFill>
          <a:ln w="12700">
            <a:solidFill>
              <a:srgbClr val="0F1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28016" bIns="91440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000" b="1">
                <a:solidFill>
                  <a:srgbClr val="22B7D2"/>
                </a:solidFill>
                <a:latin typeface="Aptos"/>
              </a:rPr>
              <a:t>Visão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F7F9FC"/>
                </a:solidFill>
                <a:latin typeface="Aptos"/>
              </a:rPr>
              <a:t>Evoluir de uma leitura de planilhas para um apoio diário à decisão operacional.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556248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69778B"/>
                </a:solidFill>
                <a:latin typeface="Aptos"/>
              </a:rPr>
              <a:t>Automação de Relatórios de Produção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69778B"/>
                </a:solidFill>
                <a:latin typeface="Aptos"/>
              </a:rPr>
              <a:t>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